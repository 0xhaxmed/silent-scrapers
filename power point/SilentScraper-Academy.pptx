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66" r:id="rId2"/>
    <p:sldId id="267" r:id="rId3"/>
    <p:sldId id="268" r:id="rId4"/>
    <p:sldId id="269" r:id="rId5"/>
    <p:sldId id="256" r:id="rId6"/>
    <p:sldId id="257" r:id="rId7"/>
    <p:sldId id="270" r:id="rId8"/>
    <p:sldId id="271" r:id="rId9"/>
    <p:sldId id="258" r:id="rId10"/>
    <p:sldId id="259" r:id="rId11"/>
    <p:sldId id="262" r:id="rId12"/>
    <p:sldId id="272" r:id="rId13"/>
    <p:sldId id="273" r:id="rId14"/>
    <p:sldId id="274" r:id="rId15"/>
    <p:sldId id="275" r:id="rId16"/>
    <p:sldId id="276" r:id="rId17"/>
    <p:sldId id="277" r:id="rId18"/>
    <p:sldId id="261" r:id="rId19"/>
    <p:sldId id="263" r:id="rId20"/>
    <p:sldId id="264" r:id="rId21"/>
    <p:sldId id="265" r:id="rId22"/>
  </p:sldIdLst>
  <p:sldSz cx="14630400" cy="8229600"/>
  <p:notesSz cx="8229600" cy="14630400"/>
  <p:embeddedFontLst>
    <p:embeddedFont>
      <p:font typeface="Merriweather" panose="00000500000000000000" pitchFamily="2" charset="0"/>
      <p:regular r:id="rId24"/>
      <p:bold r:id="rId25"/>
      <p:italic r:id="rId26"/>
      <p:boldItalic r:id="rId27"/>
    </p:embeddedFont>
    <p:embeddedFont>
      <p:font typeface="Roboto Slab" pitchFamily="2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B9FF"/>
    <a:srgbClr val="003180"/>
    <a:srgbClr val="09151B"/>
    <a:srgbClr val="091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EE6A8-2878-4331-B0EE-B1D59E64D4CF}" v="255" dt="2025-06-14T15:44:26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2494" autoAdjust="0"/>
  </p:normalViewPr>
  <p:slideViewPr>
    <p:cSldViewPr snapToGrid="0" snapToObjects="1">
      <p:cViewPr varScale="1">
        <p:scale>
          <a:sx n="79" d="100"/>
          <a:sy n="79" d="100"/>
        </p:scale>
        <p:origin x="122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54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CD4BC-80DB-299A-3DA0-6252527C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D3592-7C82-25C8-6D23-664B7D389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33A98-528D-77E5-36C6-1D7B52AAF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25C19-654D-0B70-0F2F-062AB5C18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3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6F68-DAE6-8598-D571-7AEEE5A7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784AD-3D8C-8CDC-9331-02BBC4082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7600D-8E60-6F97-7816-16FB6745E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What is OSINT?</a:t>
            </a:r>
          </a:p>
          <a:p>
            <a:r>
              <a:rPr lang="en-US" dirty="0"/>
              <a:t>OSINT stands for Open Source Intelligence.</a:t>
            </a:r>
          </a:p>
          <a:p>
            <a:r>
              <a:rPr lang="en-US" dirty="0"/>
              <a:t>It means collecting information from publicly available sources — anything that’s open and legal to access on the internet or offline</a:t>
            </a:r>
          </a:p>
          <a:p>
            <a:endParaRPr lang="en-US" dirty="0"/>
          </a:p>
          <a:p>
            <a:r>
              <a:rPr lang="en-US" dirty="0"/>
              <a:t>2. Where Does OSINT Come From?</a:t>
            </a:r>
          </a:p>
          <a:p>
            <a:r>
              <a:rPr lang="en-US" dirty="0"/>
              <a:t>OSINT data can come from:</a:t>
            </a:r>
          </a:p>
          <a:p>
            <a:endParaRPr lang="en-US" dirty="0"/>
          </a:p>
          <a:p>
            <a:r>
              <a:rPr lang="en-US" dirty="0"/>
              <a:t>Websites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Domain records (like WHOIS)</a:t>
            </a:r>
          </a:p>
          <a:p>
            <a:endParaRPr lang="en-US" dirty="0"/>
          </a:p>
          <a:p>
            <a:r>
              <a:rPr lang="en-US" dirty="0"/>
              <a:t>Public documents and government databases</a:t>
            </a:r>
          </a:p>
          <a:p>
            <a:endParaRPr lang="en-US" dirty="0"/>
          </a:p>
          <a:p>
            <a:r>
              <a:rPr lang="en-US" dirty="0"/>
              <a:t>Code repositories (like GitHub)</a:t>
            </a:r>
          </a:p>
          <a:p>
            <a:endParaRPr lang="en-US" dirty="0"/>
          </a:p>
          <a:p>
            <a:r>
              <a:rPr lang="en-US" dirty="0"/>
              <a:t>Archived data (like Wayback Machine)</a:t>
            </a:r>
          </a:p>
          <a:p>
            <a:endParaRPr lang="en-US" dirty="0"/>
          </a:p>
          <a:p>
            <a:r>
              <a:rPr lang="en-US" dirty="0"/>
              <a:t>3. Why OSINT Matters?</a:t>
            </a:r>
          </a:p>
          <a:p>
            <a:r>
              <a:rPr lang="en-US" dirty="0"/>
              <a:t>It’s free</a:t>
            </a:r>
          </a:p>
          <a:p>
            <a:endParaRPr lang="en-US" dirty="0"/>
          </a:p>
          <a:p>
            <a:r>
              <a:rPr lang="en-US" dirty="0"/>
              <a:t>It’s legal</a:t>
            </a:r>
          </a:p>
          <a:p>
            <a:endParaRPr lang="en-US" dirty="0"/>
          </a:p>
          <a:p>
            <a:r>
              <a:rPr lang="en-US" dirty="0"/>
              <a:t>It helps find hidden info</a:t>
            </a:r>
          </a:p>
          <a:p>
            <a:endParaRPr lang="en-US" dirty="0"/>
          </a:p>
          <a:p>
            <a:r>
              <a:rPr lang="en-US" dirty="0"/>
              <a:t>It gives a head start in investigations or hacking ethically</a:t>
            </a:r>
          </a:p>
          <a:p>
            <a:endParaRPr lang="en-US" dirty="0"/>
          </a:p>
          <a:p>
            <a:r>
              <a:rPr lang="en-US" dirty="0"/>
              <a:t>4. What is OSINT Used For?</a:t>
            </a:r>
          </a:p>
          <a:p>
            <a:r>
              <a:rPr lang="en-US" dirty="0"/>
              <a:t>OSINT is used in many fields:</a:t>
            </a:r>
          </a:p>
          <a:p>
            <a:endParaRPr lang="en-US" dirty="0"/>
          </a:p>
          <a:p>
            <a:r>
              <a:rPr lang="en-US" dirty="0"/>
              <a:t>Cybersecurity: To find weaknesses or exposed information before hackers do.</a:t>
            </a:r>
          </a:p>
          <a:p>
            <a:endParaRPr lang="en-US" dirty="0"/>
          </a:p>
          <a:p>
            <a:r>
              <a:rPr lang="en-US" dirty="0"/>
              <a:t>Bug Bounty / </a:t>
            </a:r>
            <a:r>
              <a:rPr lang="en-US" dirty="0" err="1"/>
              <a:t>Pentesting</a:t>
            </a:r>
            <a:r>
              <a:rPr lang="en-US" dirty="0"/>
              <a:t>: To gather info about the target.</a:t>
            </a:r>
          </a:p>
          <a:p>
            <a:endParaRPr lang="en-US" dirty="0"/>
          </a:p>
          <a:p>
            <a:r>
              <a:rPr lang="en-US" dirty="0"/>
              <a:t>Threat Intelligence: To track attackers or leaked data.</a:t>
            </a:r>
          </a:p>
          <a:p>
            <a:endParaRPr lang="en-US" dirty="0"/>
          </a:p>
          <a:p>
            <a:r>
              <a:rPr lang="en-US" dirty="0"/>
              <a:t>Law Enforcement / Military: For investigations or tracking threats.</a:t>
            </a:r>
          </a:p>
          <a:p>
            <a:endParaRPr lang="en-US" dirty="0"/>
          </a:p>
          <a:p>
            <a:r>
              <a:rPr lang="en-US" dirty="0"/>
              <a:t>Journalism: To investigate stories.</a:t>
            </a:r>
          </a:p>
          <a:p>
            <a:endParaRPr lang="en-US" dirty="0"/>
          </a:p>
          <a:p>
            <a:r>
              <a:rPr lang="en-US" dirty="0"/>
              <a:t>Corporate Security: To monitor brand or employee leaks.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9470-E9B2-5EB2-4075-1D7E03595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08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5412-6E7E-E992-F37D-D1296820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1DEFF-C3AC-4259-FF01-5FB5422C7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2E04A-B563-C8B6-3DE9-96730F951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8A91F-4B1E-3AF7-E060-8AC5DB8B4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95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83AA-2DBA-2F5A-C11E-300A9197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2E26C-763A-90F1-B52C-08D96F2FC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A0617-12D5-343F-0256-5EBF90124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5C319-A6C8-3253-2AD7-4A60D0E8F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58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C5F0-0881-BDA5-BFE6-C18A4317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37AE3-BDBF-B660-C792-3EEAB38BB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16B58-0404-09B3-251F-691D20F96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EFC06-6F2C-F395-2158-0E5B33A41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3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CEDB-DBAA-C5FC-FED5-AC09AE11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3B6DC-2601-9A09-05FC-E55BD23F3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28906-002E-19FB-8D94-4E40011F4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F6EEA-6F17-CB38-743F-3A5515041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8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7661-90C6-F15D-E8EA-DD9D7E79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EC9D0-994B-F193-9F30-6CC79A6B7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3F923-4837-F4E6-85F2-8DFF68732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5DC3C-BF62-2A77-D004-E9D3C9989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93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6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gif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A588F1-DB9D-AA32-F9BA-9A7CA77A1850}"/>
              </a:ext>
            </a:extLst>
          </p:cNvPr>
          <p:cNvSpPr/>
          <p:nvPr/>
        </p:nvSpPr>
        <p:spPr>
          <a:xfrm>
            <a:off x="12890810" y="7761249"/>
            <a:ext cx="1628078" cy="390292"/>
          </a:xfrm>
          <a:prstGeom prst="rect">
            <a:avLst/>
          </a:prstGeom>
          <a:solidFill>
            <a:srgbClr val="09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with text and symbols&#10;&#10;AI-generated content may be incorrect.">
            <a:extLst>
              <a:ext uri="{FF2B5EF4-FFF2-40B4-BE49-F238E27FC236}">
                <a16:creationId xmlns:a16="http://schemas.microsoft.com/office/drawing/2014/main" id="{F0A10A01-12C3-9BEF-48D4-F0F066F3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5943" y="334536"/>
            <a:ext cx="1928178" cy="18845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BCB8C0-384E-308C-6DD1-06DE6BE83023}"/>
              </a:ext>
            </a:extLst>
          </p:cNvPr>
          <p:cNvSpPr txBox="1"/>
          <p:nvPr/>
        </p:nvSpPr>
        <p:spPr>
          <a:xfrm>
            <a:off x="2620536" y="2918276"/>
            <a:ext cx="9389327" cy="2923877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Silent Scraper academy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Under Supervision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Dr/Ahmed Fawzy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Eng/Mina</a:t>
            </a:r>
          </a:p>
        </p:txBody>
      </p:sp>
      <p:pic>
        <p:nvPicPr>
          <p:cNvPr id="10" name="Picture 9" descr="A logo with a blue hoodie and a padlock&#10;&#10;AI-generated content may be incorrect.">
            <a:extLst>
              <a:ext uri="{FF2B5EF4-FFF2-40B4-BE49-F238E27FC236}">
                <a16:creationId xmlns:a16="http://schemas.microsoft.com/office/drawing/2014/main" id="{67B06A4B-3E09-B3AB-6622-8758DCA38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72" y="334537"/>
            <a:ext cx="1928178" cy="19281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7360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664C30-35A4-AA2F-B747-CA72910542BE}"/>
              </a:ext>
            </a:extLst>
          </p:cNvPr>
          <p:cNvSpPr/>
          <p:nvPr/>
        </p:nvSpPr>
        <p:spPr>
          <a:xfrm>
            <a:off x="12890810" y="7761249"/>
            <a:ext cx="1628078" cy="390292"/>
          </a:xfrm>
          <a:prstGeom prst="rect">
            <a:avLst/>
          </a:prstGeom>
          <a:solidFill>
            <a:srgbClr val="09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DF669F-5486-D6B9-EA17-A63A4568C8D6}"/>
              </a:ext>
            </a:extLst>
          </p:cNvPr>
          <p:cNvSpPr txBox="1"/>
          <p:nvPr/>
        </p:nvSpPr>
        <p:spPr>
          <a:xfrm>
            <a:off x="1103971" y="777689"/>
            <a:ext cx="621122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>
                <a:solidFill>
                  <a:srgbClr val="003180"/>
                </a:solidFill>
              </a:rPr>
              <a:t>1. </a:t>
            </a:r>
            <a:r>
              <a:rPr lang="en-US" sz="2800" dirty="0">
                <a:solidFill>
                  <a:schemeClr val="bg1"/>
                </a:solidFill>
              </a:rPr>
              <a:t>Karim Mohamed Hussien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3180"/>
                </a:solidFill>
              </a:rPr>
              <a:t>2. </a:t>
            </a:r>
            <a:r>
              <a:rPr lang="en-US" sz="2800" dirty="0">
                <a:solidFill>
                  <a:schemeClr val="bg1"/>
                </a:solidFill>
              </a:rPr>
              <a:t>Ebrahim Hesham Awd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3180"/>
                </a:solidFill>
              </a:rPr>
              <a:t>3. </a:t>
            </a:r>
            <a:r>
              <a:rPr lang="en-US" sz="2800" dirty="0">
                <a:solidFill>
                  <a:schemeClr val="bg1"/>
                </a:solidFill>
              </a:rPr>
              <a:t>Mohamed Hesham Mohamed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3180"/>
                </a:solidFill>
              </a:rPr>
              <a:t>4. </a:t>
            </a:r>
            <a:r>
              <a:rPr lang="en-US" sz="2800" dirty="0">
                <a:solidFill>
                  <a:schemeClr val="bg1"/>
                </a:solidFill>
              </a:rPr>
              <a:t>Kerolos Adeeb Dawoud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rgbClr val="003180"/>
                </a:solidFill>
              </a:rPr>
              <a:t>5. </a:t>
            </a:r>
            <a:r>
              <a:rPr lang="en-US" sz="2800" dirty="0">
                <a:solidFill>
                  <a:schemeClr val="bg1"/>
                </a:solidFill>
              </a:rPr>
              <a:t>Karim Tarek Elsaid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13E37-E85A-D6F6-8815-EB6F9301CE09}"/>
              </a:ext>
            </a:extLst>
          </p:cNvPr>
          <p:cNvSpPr txBox="1"/>
          <p:nvPr/>
        </p:nvSpPr>
        <p:spPr>
          <a:xfrm>
            <a:off x="5542156" y="412595"/>
            <a:ext cx="3546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Team Members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82DAB-EF54-51D4-03DB-CB24E11ED938}"/>
              </a:ext>
            </a:extLst>
          </p:cNvPr>
          <p:cNvSpPr txBox="1"/>
          <p:nvPr/>
        </p:nvSpPr>
        <p:spPr>
          <a:xfrm>
            <a:off x="8062331" y="1331687"/>
            <a:ext cx="52522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800" dirty="0">
                <a:solidFill>
                  <a:srgbClr val="003180"/>
                </a:solidFill>
              </a:rPr>
              <a:t>6. </a:t>
            </a:r>
            <a:r>
              <a:rPr lang="en-US" sz="2800" dirty="0">
                <a:solidFill>
                  <a:schemeClr val="bg1"/>
                </a:solidFill>
              </a:rPr>
              <a:t>Mohamed Ahmed Sayed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rgbClr val="003180"/>
                </a:solidFill>
              </a:rPr>
              <a:t>7. </a:t>
            </a:r>
            <a:r>
              <a:rPr lang="en-US" sz="2800" dirty="0">
                <a:solidFill>
                  <a:schemeClr val="bg1"/>
                </a:solidFill>
              </a:rPr>
              <a:t>Mostafa Ahmed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rgbClr val="003180"/>
                </a:solidFill>
              </a:rPr>
              <a:t>8. </a:t>
            </a:r>
            <a:r>
              <a:rPr lang="en-US" sz="2800" dirty="0">
                <a:solidFill>
                  <a:schemeClr val="bg1"/>
                </a:solidFill>
              </a:rPr>
              <a:t>Youssef Ayman Mohamed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rgbClr val="003180"/>
                </a:solidFill>
              </a:rPr>
              <a:t>9. </a:t>
            </a:r>
            <a:r>
              <a:rPr lang="en-US" sz="2800" dirty="0">
                <a:solidFill>
                  <a:schemeClr val="bg1"/>
                </a:solidFill>
              </a:rPr>
              <a:t>Mohamed Ebrahim Mohamed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rgbClr val="003180"/>
                </a:solidFill>
              </a:rPr>
              <a:t>10. </a:t>
            </a:r>
            <a:r>
              <a:rPr lang="en-US" sz="2800" dirty="0">
                <a:solidFill>
                  <a:schemeClr val="bg1"/>
                </a:solidFill>
              </a:rPr>
              <a:t>Mohamed ElSayed Mohamed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F83F37-4C84-B96E-9818-567A80F56A06}"/>
              </a:ext>
            </a:extLst>
          </p:cNvPr>
          <p:cNvSpPr txBox="1"/>
          <p:nvPr/>
        </p:nvSpPr>
        <p:spPr>
          <a:xfrm>
            <a:off x="4209585" y="6344207"/>
            <a:ext cx="4583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180"/>
                </a:solidFill>
              </a:rPr>
              <a:t>11. </a:t>
            </a:r>
            <a:r>
              <a:rPr lang="en-US" sz="2800" dirty="0">
                <a:solidFill>
                  <a:schemeClr val="bg1"/>
                </a:solidFill>
              </a:rPr>
              <a:t>Mostafa </a:t>
            </a:r>
            <a:r>
              <a:rPr lang="en-US" sz="2800" dirty="0" err="1">
                <a:solidFill>
                  <a:schemeClr val="bg1"/>
                </a:solidFill>
              </a:rPr>
              <a:t>Mohe</a:t>
            </a:r>
            <a:r>
              <a:rPr lang="en-US" sz="2800" dirty="0">
                <a:solidFill>
                  <a:schemeClr val="bg1"/>
                </a:solidFill>
              </a:rPr>
              <a:t> Mohamed</a:t>
            </a:r>
          </a:p>
        </p:txBody>
      </p:sp>
    </p:spTree>
    <p:extLst>
      <p:ext uri="{BB962C8B-B14F-4D97-AF65-F5344CB8AC3E}">
        <p14:creationId xmlns:p14="http://schemas.microsoft.com/office/powerpoint/2010/main" val="14137659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F6CCD9-B4B0-E0B0-B213-6AEE5AF8ABA0}"/>
              </a:ext>
            </a:extLst>
          </p:cNvPr>
          <p:cNvSpPr/>
          <p:nvPr/>
        </p:nvSpPr>
        <p:spPr>
          <a:xfrm>
            <a:off x="12890810" y="7761249"/>
            <a:ext cx="1628078" cy="390292"/>
          </a:xfrm>
          <a:prstGeom prst="rect">
            <a:avLst/>
          </a:prstGeom>
          <a:solidFill>
            <a:srgbClr val="09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F7F045-A2AD-48E8-9373-10C9B5A540C6}"/>
              </a:ext>
            </a:extLst>
          </p:cNvPr>
          <p:cNvSpPr txBox="1"/>
          <p:nvPr/>
        </p:nvSpPr>
        <p:spPr>
          <a:xfrm>
            <a:off x="713678" y="312234"/>
            <a:ext cx="4895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Outline: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931F6-A89B-A3AB-3018-3EE75DB9194F}"/>
              </a:ext>
            </a:extLst>
          </p:cNvPr>
          <p:cNvSpPr txBox="1"/>
          <p:nvPr/>
        </p:nvSpPr>
        <p:spPr>
          <a:xfrm>
            <a:off x="847493" y="1382751"/>
            <a:ext cx="476157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3180"/>
                </a:solidFill>
              </a:rPr>
              <a:t>1. </a:t>
            </a:r>
            <a:r>
              <a:rPr lang="en-US" sz="2000" dirty="0">
                <a:solidFill>
                  <a:schemeClr val="bg1"/>
                </a:solidFill>
              </a:rPr>
              <a:t>Introduction and Overview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rgbClr val="003180"/>
                </a:solidFill>
              </a:rPr>
              <a:t>2. </a:t>
            </a:r>
            <a:r>
              <a:rPr lang="en-US" sz="2000" dirty="0">
                <a:solidFill>
                  <a:schemeClr val="bg1"/>
                </a:solidFill>
              </a:rPr>
              <a:t>UI &amp; UX (Frontend)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rgbClr val="003180"/>
                </a:solidFill>
              </a:rPr>
              <a:t>3. </a:t>
            </a:r>
            <a:r>
              <a:rPr lang="en-US" sz="2000" dirty="0">
                <a:solidFill>
                  <a:schemeClr val="bg1"/>
                </a:solidFill>
              </a:rPr>
              <a:t>Backend &amp; Apis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rgbClr val="003180"/>
                </a:solidFill>
              </a:rPr>
              <a:t>4. </a:t>
            </a:r>
            <a:r>
              <a:rPr lang="en-US" sz="2000" dirty="0">
                <a:solidFill>
                  <a:schemeClr val="bg1"/>
                </a:solidFill>
              </a:rPr>
              <a:t>Web / Network Tools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rgbClr val="003180"/>
                </a:solidFill>
              </a:rPr>
              <a:t>5. </a:t>
            </a:r>
            <a:r>
              <a:rPr lang="en-US" sz="2000" dirty="0">
                <a:solidFill>
                  <a:schemeClr val="bg1"/>
                </a:solidFill>
              </a:rPr>
              <a:t>Vulnerability Labs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003180"/>
                </a:solidFill>
              </a:rPr>
              <a:t>6. </a:t>
            </a:r>
            <a:r>
              <a:rPr lang="en-US" sz="2000" dirty="0">
                <a:solidFill>
                  <a:schemeClr val="bg1"/>
                </a:solidFill>
              </a:rPr>
              <a:t>Resources &amp; Challenges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rgbClr val="003180"/>
                </a:solidFill>
              </a:rPr>
              <a:t>7. </a:t>
            </a:r>
            <a:r>
              <a:rPr lang="en-US" sz="2000" dirty="0">
                <a:solidFill>
                  <a:schemeClr val="bg1"/>
                </a:solidFill>
              </a:rPr>
              <a:t>Conclusion &amp; Future Path</a:t>
            </a:r>
          </a:p>
        </p:txBody>
      </p:sp>
    </p:spTree>
    <p:extLst>
      <p:ext uri="{BB962C8B-B14F-4D97-AF65-F5344CB8AC3E}">
        <p14:creationId xmlns:p14="http://schemas.microsoft.com/office/powerpoint/2010/main" val="34021869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D7DEC2-87DD-368B-3E6E-33E0B6DD5B1D}"/>
              </a:ext>
            </a:extLst>
          </p:cNvPr>
          <p:cNvSpPr/>
          <p:nvPr/>
        </p:nvSpPr>
        <p:spPr>
          <a:xfrm>
            <a:off x="12890810" y="7761249"/>
            <a:ext cx="1628078" cy="390292"/>
          </a:xfrm>
          <a:prstGeom prst="rect">
            <a:avLst/>
          </a:prstGeom>
          <a:solidFill>
            <a:srgbClr val="09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4BF32-2556-04D5-8009-CF1E6EA03A95}"/>
              </a:ext>
            </a:extLst>
          </p:cNvPr>
          <p:cNvSpPr txBox="1"/>
          <p:nvPr/>
        </p:nvSpPr>
        <p:spPr>
          <a:xfrm>
            <a:off x="1115119" y="433145"/>
            <a:ext cx="42486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/>
                </a:solidFill>
              </a:rPr>
              <a:t>Aim &amp;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04570-0329-523C-4A70-82551FAE71A7}"/>
              </a:ext>
            </a:extLst>
          </p:cNvPr>
          <p:cNvSpPr txBox="1"/>
          <p:nvPr/>
        </p:nvSpPr>
        <p:spPr>
          <a:xfrm>
            <a:off x="1115119" y="6040070"/>
            <a:ext cx="11686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We Are Targeting Security Researchers And Beginner Cybersecurity Audience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2A57E-B28B-337D-8069-21FD738A4AA9}"/>
              </a:ext>
            </a:extLst>
          </p:cNvPr>
          <p:cNvSpPr txBox="1"/>
          <p:nvPr/>
        </p:nvSpPr>
        <p:spPr>
          <a:xfrm>
            <a:off x="1193181" y="1644008"/>
            <a:ext cx="100584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Our Academy Objective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A59AE-2DCC-5115-9E35-13B930681495}"/>
              </a:ext>
            </a:extLst>
          </p:cNvPr>
          <p:cNvSpPr txBox="1"/>
          <p:nvPr/>
        </p:nvSpPr>
        <p:spPr>
          <a:xfrm>
            <a:off x="1483112" y="2266181"/>
            <a:ext cx="84860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Build a web platform for learning and practicing cybersecurity through a simple user interface.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Connected tools that runs tools like Sub finder, Nmap, and Asset Finder via Fast API.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Provide practical labs with real vulnerabilities in web and network environments.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Help students and trainees perform real scans and analyze results in a safe training environment.</a:t>
            </a:r>
          </a:p>
        </p:txBody>
      </p:sp>
    </p:spTree>
    <p:extLst>
      <p:ext uri="{BB962C8B-B14F-4D97-AF65-F5344CB8AC3E}">
        <p14:creationId xmlns:p14="http://schemas.microsoft.com/office/powerpoint/2010/main" val="269004172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6E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7" y="613658"/>
            <a:ext cx="7416403" cy="791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6600" dirty="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5" name="Text 2"/>
          <p:cNvSpPr/>
          <p:nvPr/>
        </p:nvSpPr>
        <p:spPr>
          <a:xfrm>
            <a:off x="635620" y="2297151"/>
            <a:ext cx="8318810" cy="409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SilentScraper is a web-based platform. It helps users practice ethical hacking. You can exploit real-world vulnerabilities. Labs are safe and sandboxed. Empowering cybersecurity professionals is our goal. We provide hands-on experience.</a:t>
            </a:r>
            <a:endParaRPr lang="en-US" sz="2800" dirty="0"/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0C36318-D38C-1AA0-1978-7F235D53B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46" y="0"/>
            <a:ext cx="5519854" cy="82296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4630398" y="0"/>
            <a:ext cx="45719" cy="8229600"/>
          </a:xfrm>
          <a:prstGeom prst="rect">
            <a:avLst/>
          </a:prstGeom>
          <a:solidFill>
            <a:srgbClr val="E6E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4653643" cy="8229599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6152649" y="1945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React.js</a:t>
            </a:r>
            <a:endParaRPr lang="en-US" sz="4400" dirty="0"/>
          </a:p>
        </p:txBody>
      </p:sp>
      <p:sp>
        <p:nvSpPr>
          <p:cNvPr id="22" name="Text 3"/>
          <p:cNvSpPr/>
          <p:nvPr/>
        </p:nvSpPr>
        <p:spPr>
          <a:xfrm>
            <a:off x="9584715" y="3211772"/>
            <a:ext cx="47604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600" dirty="0">
                <a:solidFill>
                  <a:srgbClr val="76B9FF"/>
                </a:solidFill>
              </a:rPr>
              <a:t>Home and TeamMember cards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23" name="Text 5"/>
          <p:cNvSpPr/>
          <p:nvPr/>
        </p:nvSpPr>
        <p:spPr>
          <a:xfrm>
            <a:off x="5897581" y="5019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Styling with CSS</a:t>
            </a:r>
            <a:endParaRPr lang="en-US" sz="3600" dirty="0"/>
          </a:p>
        </p:txBody>
      </p:sp>
      <p:sp>
        <p:nvSpPr>
          <p:cNvPr id="24" name="Text 7"/>
          <p:cNvSpPr/>
          <p:nvPr/>
        </p:nvSpPr>
        <p:spPr>
          <a:xfrm>
            <a:off x="9456236" y="6476571"/>
            <a:ext cx="517416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Vite / JavaScript &amp; Libraries</a:t>
            </a:r>
            <a:endParaRPr lang="en-US" sz="4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22E5A9-44AD-D903-612D-5CAC25EEDD6D}"/>
              </a:ext>
            </a:extLst>
          </p:cNvPr>
          <p:cNvCxnSpPr/>
          <p:nvPr/>
        </p:nvCxnSpPr>
        <p:spPr>
          <a:xfrm>
            <a:off x="8184995" y="2299335"/>
            <a:ext cx="1271241" cy="73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F02F64-A109-8C36-6895-5C13EE1BA7ED}"/>
              </a:ext>
            </a:extLst>
          </p:cNvPr>
          <p:cNvCxnSpPr/>
          <p:nvPr/>
        </p:nvCxnSpPr>
        <p:spPr>
          <a:xfrm flipH="1">
            <a:off x="8519532" y="3920432"/>
            <a:ext cx="936704" cy="863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98598F-88AC-4D3F-622A-7B92E0FCBAC3}"/>
              </a:ext>
            </a:extLst>
          </p:cNvPr>
          <p:cNvCxnSpPr/>
          <p:nvPr/>
        </p:nvCxnSpPr>
        <p:spPr>
          <a:xfrm>
            <a:off x="8631044" y="5373333"/>
            <a:ext cx="1048215" cy="82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D80BF3C-7666-032F-D183-D8EDDF7481A5}"/>
              </a:ext>
            </a:extLst>
          </p:cNvPr>
          <p:cNvSpPr txBox="1"/>
          <p:nvPr/>
        </p:nvSpPr>
        <p:spPr>
          <a:xfrm>
            <a:off x="5157439" y="492104"/>
            <a:ext cx="9043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Frontend: Diving Deep into UI/UX</a:t>
            </a:r>
            <a:endParaRPr lang="en-US" sz="3600" u="sn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D9ED51-845F-6F0C-FA30-06DEA4F3E647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A black letters on an orange background&#10;&#10;AI-generated content may be incorrect.">
            <a:extLst>
              <a:ext uri="{FF2B5EF4-FFF2-40B4-BE49-F238E27FC236}">
                <a16:creationId xmlns:a16="http://schemas.microsoft.com/office/drawing/2014/main" id="{20E2BF1E-265A-445E-B316-078E2E968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0" y="5631366"/>
            <a:ext cx="4653644" cy="2624718"/>
          </a:xfrm>
          <a:prstGeom prst="rect">
            <a:avLst/>
          </a:prstGeom>
        </p:spPr>
      </p:pic>
      <p:pic>
        <p:nvPicPr>
          <p:cNvPr id="37" name="Picture 36" descr="A white circle on a blue background&#10;&#10;AI-generated content may be incorrect.">
            <a:extLst>
              <a:ext uri="{FF2B5EF4-FFF2-40B4-BE49-F238E27FC236}">
                <a16:creationId xmlns:a16="http://schemas.microsoft.com/office/drawing/2014/main" id="{06A04804-6637-951A-6899-DC2EE59A5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0" y="3059616"/>
            <a:ext cx="4653643" cy="2571750"/>
          </a:xfrm>
          <a:prstGeom prst="rect">
            <a:avLst/>
          </a:prstGeom>
        </p:spPr>
      </p:pic>
      <p:pic>
        <p:nvPicPr>
          <p:cNvPr id="39" name="Picture 38" descr="A yellow background with letters&#10;&#10;AI-generated content may be incorrect.">
            <a:extLst>
              <a:ext uri="{FF2B5EF4-FFF2-40B4-BE49-F238E27FC236}">
                <a16:creationId xmlns:a16="http://schemas.microsoft.com/office/drawing/2014/main" id="{6EE3C978-7135-739F-3BF7-54541C225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653644" cy="303313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2466-5EF6-DAAD-FF9D-30B70663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1B56A5-2BF1-F2BF-0D89-2628293DDE97}"/>
              </a:ext>
            </a:extLst>
          </p:cNvPr>
          <p:cNvSpPr/>
          <p:nvPr/>
        </p:nvSpPr>
        <p:spPr>
          <a:xfrm>
            <a:off x="0" y="0"/>
            <a:ext cx="14630400" cy="2605683"/>
          </a:xfrm>
          <a:prstGeom prst="rect">
            <a:avLst/>
          </a:prstGeom>
          <a:solidFill>
            <a:srgbClr val="E6E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58A7C50-109A-639A-7083-EA8A2DA95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568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3406076-D1ED-B8BF-0447-F35E314C627B}"/>
              </a:ext>
            </a:extLst>
          </p:cNvPr>
          <p:cNvSpPr/>
          <p:nvPr/>
        </p:nvSpPr>
        <p:spPr>
          <a:xfrm>
            <a:off x="4238337" y="2956024"/>
            <a:ext cx="7261741" cy="65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6000" dirty="0">
                <a:solidFill>
                  <a:schemeClr val="bg1"/>
                </a:solidFill>
              </a:rPr>
              <a:t>Backend ( Node.js )</a:t>
            </a: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A91F7AD6-F284-A0ED-21D7-EB66A2283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05683"/>
          </a:xfrm>
          <a:prstGeom prst="rect">
            <a:avLst/>
          </a:prstGeom>
        </p:spPr>
      </p:pic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1AD66A6E-65EA-1BD0-E7C9-756DAFCE5C79}"/>
              </a:ext>
            </a:extLst>
          </p:cNvPr>
          <p:cNvSpPr/>
          <p:nvPr/>
        </p:nvSpPr>
        <p:spPr>
          <a:xfrm rot="16200000">
            <a:off x="1001590" y="3725841"/>
            <a:ext cx="1215748" cy="1215747"/>
          </a:xfrm>
          <a:prstGeom prst="flowChartOffpageConnector">
            <a:avLst/>
          </a:prstGeom>
          <a:solidFill>
            <a:srgbClr val="003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Off-page Connector 21">
            <a:extLst>
              <a:ext uri="{FF2B5EF4-FFF2-40B4-BE49-F238E27FC236}">
                <a16:creationId xmlns:a16="http://schemas.microsoft.com/office/drawing/2014/main" id="{7336EC8E-29A2-E763-E8D4-BB4FB4EFE2A4}"/>
              </a:ext>
            </a:extLst>
          </p:cNvPr>
          <p:cNvSpPr/>
          <p:nvPr/>
        </p:nvSpPr>
        <p:spPr>
          <a:xfrm rot="16200000">
            <a:off x="1609463" y="5230059"/>
            <a:ext cx="1215748" cy="1215747"/>
          </a:xfrm>
          <a:prstGeom prst="flowChartOffpageConnector">
            <a:avLst/>
          </a:prstGeom>
          <a:solidFill>
            <a:srgbClr val="003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621889DF-C526-E7E3-17AD-A5D405933E40}"/>
              </a:ext>
            </a:extLst>
          </p:cNvPr>
          <p:cNvSpPr/>
          <p:nvPr/>
        </p:nvSpPr>
        <p:spPr>
          <a:xfrm rot="16200000">
            <a:off x="2196662" y="6734276"/>
            <a:ext cx="1215748" cy="1215747"/>
          </a:xfrm>
          <a:prstGeom prst="flowChartOffpageConnector">
            <a:avLst/>
          </a:prstGeom>
          <a:solidFill>
            <a:srgbClr val="003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57B21A-67FD-82F9-423A-41A1363CAFB6}"/>
              </a:ext>
            </a:extLst>
          </p:cNvPr>
          <p:cNvSpPr txBox="1"/>
          <p:nvPr/>
        </p:nvSpPr>
        <p:spPr>
          <a:xfrm>
            <a:off x="2482310" y="3979771"/>
            <a:ext cx="5110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Backend Divided Into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3C83DD-73CF-B83A-0C2C-EEBE2EE3E4D2}"/>
              </a:ext>
            </a:extLst>
          </p:cNvPr>
          <p:cNvCxnSpPr/>
          <p:nvPr/>
        </p:nvCxnSpPr>
        <p:spPr>
          <a:xfrm flipV="1">
            <a:off x="7315200" y="3979771"/>
            <a:ext cx="1077686" cy="353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471675-2C21-1E6B-F328-42F053A9D5B1}"/>
              </a:ext>
            </a:extLst>
          </p:cNvPr>
          <p:cNvCxnSpPr/>
          <p:nvPr/>
        </p:nvCxnSpPr>
        <p:spPr>
          <a:xfrm>
            <a:off x="7315200" y="4555671"/>
            <a:ext cx="1077686" cy="385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A529267-0B83-9803-143B-7480B11076BE}"/>
              </a:ext>
            </a:extLst>
          </p:cNvPr>
          <p:cNvSpPr txBox="1"/>
          <p:nvPr/>
        </p:nvSpPr>
        <p:spPr>
          <a:xfrm>
            <a:off x="8454483" y="4672685"/>
            <a:ext cx="3449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Database (XAMPP/Apache)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6087A9-5AB1-C0E7-0D48-E18C3FBA17DF}"/>
              </a:ext>
            </a:extLst>
          </p:cNvPr>
          <p:cNvSpPr txBox="1"/>
          <p:nvPr/>
        </p:nvSpPr>
        <p:spPr>
          <a:xfrm>
            <a:off x="8454484" y="3696146"/>
            <a:ext cx="281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Api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Requests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676EE9-90AD-DCE5-920C-B6BB22D14C6B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1581D7-D766-23C6-10FE-6FD0E62FA55B}"/>
              </a:ext>
            </a:extLst>
          </p:cNvPr>
          <p:cNvSpPr txBox="1"/>
          <p:nvPr/>
        </p:nvSpPr>
        <p:spPr>
          <a:xfrm>
            <a:off x="3167743" y="5230058"/>
            <a:ext cx="4147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Why I Choose Fast API?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98AE84-5491-2F1D-36EB-F40AE8DB0814}"/>
              </a:ext>
            </a:extLst>
          </p:cNvPr>
          <p:cNvSpPr txBox="1"/>
          <p:nvPr/>
        </p:nvSpPr>
        <p:spPr>
          <a:xfrm>
            <a:off x="3412409" y="5837932"/>
            <a:ext cx="4180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bg1"/>
                </a:solidFill>
              </a:rPr>
              <a:t>How it implements !!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74B24C-9082-3B52-0369-41D279E0D696}"/>
              </a:ext>
            </a:extLst>
          </p:cNvPr>
          <p:cNvSpPr txBox="1"/>
          <p:nvPr/>
        </p:nvSpPr>
        <p:spPr>
          <a:xfrm>
            <a:off x="3706584" y="7049761"/>
            <a:ext cx="6596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Frontend &amp; Backend Link using the API </a:t>
            </a:r>
          </a:p>
        </p:txBody>
      </p:sp>
    </p:spTree>
    <p:extLst>
      <p:ext uri="{BB962C8B-B14F-4D97-AF65-F5344CB8AC3E}">
        <p14:creationId xmlns:p14="http://schemas.microsoft.com/office/powerpoint/2010/main" val="1983939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BA181-2E7B-548A-D2FA-09CF3636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A5EB9-9F91-3DF5-5AB9-E3DAFD81940D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6DD7FC06-C26C-354C-FE5E-0B9292E67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95052">
            <a:off x="8269090" y="3586367"/>
            <a:ext cx="4515922" cy="4515922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CA58B39-0A4E-3660-E8E5-D9939511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928545">
            <a:off x="8269089" y="52353"/>
            <a:ext cx="4515922" cy="4515922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D3092609-BFCC-AFF9-F903-D36DF9F9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001888">
            <a:off x="1269113" y="3586367"/>
            <a:ext cx="4515922" cy="4515922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D059D2E3-AEA6-68FD-4DFE-BCE4C24FA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20" b="-2798"/>
          <a:stretch>
            <a:fillRect/>
          </a:stretch>
        </p:blipFill>
        <p:spPr>
          <a:xfrm rot="8666733">
            <a:off x="1289495" y="-106286"/>
            <a:ext cx="4311374" cy="4649412"/>
          </a:xfrm>
          <a:prstGeom prst="rect">
            <a:avLst/>
          </a:prstGeom>
        </p:spPr>
      </p:pic>
      <p:pic>
        <p:nvPicPr>
          <p:cNvPr id="10" name="Picture 9" descr="A diagram of a company&#10;&#10;AI-generated content may be incorrect.">
            <a:extLst>
              <a:ext uri="{FF2B5EF4-FFF2-40B4-BE49-F238E27FC236}">
                <a16:creationId xmlns:a16="http://schemas.microsoft.com/office/drawing/2014/main" id="{51FBAF54-ED10-F3EB-6DC6-E610332C7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893" y="1693805"/>
            <a:ext cx="8057069" cy="47739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F14A4C-FF65-999F-6C99-925BCC4659FC}"/>
              </a:ext>
            </a:extLst>
          </p:cNvPr>
          <p:cNvSpPr txBox="1"/>
          <p:nvPr/>
        </p:nvSpPr>
        <p:spPr>
          <a:xfrm rot="18321543">
            <a:off x="917071" y="171778"/>
            <a:ext cx="43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OSINT?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3E3F92-800D-9D9C-F097-AE64A56334C4}"/>
              </a:ext>
            </a:extLst>
          </p:cNvPr>
          <p:cNvSpPr txBox="1"/>
          <p:nvPr/>
        </p:nvSpPr>
        <p:spPr>
          <a:xfrm rot="18972478">
            <a:off x="10242573" y="4738988"/>
            <a:ext cx="6728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What is OSINT Used For?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513C9E-C7D8-F46F-662A-CF9E389896D6}"/>
              </a:ext>
            </a:extLst>
          </p:cNvPr>
          <p:cNvSpPr txBox="1"/>
          <p:nvPr/>
        </p:nvSpPr>
        <p:spPr>
          <a:xfrm rot="2364928">
            <a:off x="877561" y="8306505"/>
            <a:ext cx="7876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Why OSINT Matters?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77714F-3C59-79B0-3949-070A336A35D7}"/>
              </a:ext>
            </a:extLst>
          </p:cNvPr>
          <p:cNvSpPr txBox="1"/>
          <p:nvPr/>
        </p:nvSpPr>
        <p:spPr>
          <a:xfrm rot="2498686">
            <a:off x="9555311" y="3107790"/>
            <a:ext cx="8125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Where Does OSINT Come From?</a:t>
            </a:r>
          </a:p>
        </p:txBody>
      </p:sp>
    </p:spTree>
    <p:extLst>
      <p:ext uri="{BB962C8B-B14F-4D97-AF65-F5344CB8AC3E}">
        <p14:creationId xmlns:p14="http://schemas.microsoft.com/office/powerpoint/2010/main" val="4199065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6E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711160"/>
            <a:ext cx="7416403" cy="123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00" dirty="0">
                <a:solidFill>
                  <a:schemeClr val="bg1"/>
                </a:solidFill>
              </a:rPr>
              <a:t>Web &amp; Network Tools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868" y="2191881"/>
            <a:ext cx="987266" cy="14537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53540" y="2438638"/>
            <a:ext cx="285071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Subfinder &amp; Asset finder &amp; Sub lister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653540" y="2885182"/>
            <a:ext cx="6231731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 subdomains and external assets. Identify potential attack surfaces.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868" y="3670309"/>
            <a:ext cx="987266" cy="11847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53540" y="3877508"/>
            <a:ext cx="246828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Katana &amp; Gau 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653539" y="4348200"/>
            <a:ext cx="623173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 fast port scanning. Automate web crawling for structure.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888" y="4879777"/>
            <a:ext cx="987266" cy="11847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78560" y="5050529"/>
            <a:ext cx="246828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ASN Lookup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1653540" y="5494504"/>
            <a:ext cx="623173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Retrieve known URLs. Identify network ownership (ASN).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888" y="6089243"/>
            <a:ext cx="987266" cy="145375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53540" y="6216194"/>
            <a:ext cx="2468285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Nmap &amp; Naabu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1653538" y="6676616"/>
            <a:ext cx="6231731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network scanning. Get detailed host and service information.</a:t>
            </a:r>
            <a:endParaRPr lang="en-US" sz="1550" dirty="0"/>
          </a:p>
        </p:txBody>
      </p:sp>
      <p:pic>
        <p:nvPicPr>
          <p:cNvPr id="21" name="WhatsApp Video 2025-06-14 at 4.58.19 PM">
            <a:hlinkClick r:id="" action="ppaction://media"/>
            <a:extLst>
              <a:ext uri="{FF2B5EF4-FFF2-40B4-BE49-F238E27FC236}">
                <a16:creationId xmlns:a16="http://schemas.microsoft.com/office/drawing/2014/main" id="{7E7BF7FB-7A3B-DF45-FFC0-2344C81A4E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57653" y="0"/>
            <a:ext cx="6585489" cy="82296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605683"/>
          </a:xfrm>
          <a:prstGeom prst="rect">
            <a:avLst/>
          </a:prstGeom>
          <a:solidFill>
            <a:srgbClr val="E6E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56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8322" y="3281720"/>
            <a:ext cx="7261741" cy="65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Hands-On Vulnerability Labs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858322" y="4245769"/>
            <a:ext cx="6352699" cy="1549718"/>
          </a:xfrm>
          <a:prstGeom prst="roundRect">
            <a:avLst>
              <a:gd name="adj" fmla="val 565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74301" y="4461748"/>
            <a:ext cx="2605683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</a:rPr>
              <a:t>Lab 1 : Zero Team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74301" y="4912519"/>
            <a:ext cx="5920740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19380" y="4245769"/>
            <a:ext cx="6352699" cy="1549718"/>
          </a:xfrm>
          <a:prstGeom prst="roundRect">
            <a:avLst>
              <a:gd name="adj" fmla="val 565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35359" y="4461748"/>
            <a:ext cx="322468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</a:rPr>
              <a:t>Lab 2 : Hacker News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7961971" y="4912519"/>
            <a:ext cx="5594128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ar-EG" sz="1600" dirty="0"/>
              <a:t>  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8322" y="6003846"/>
            <a:ext cx="6352699" cy="1549718"/>
          </a:xfrm>
          <a:prstGeom prst="roundRect">
            <a:avLst>
              <a:gd name="adj" fmla="val 565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74301" y="6219825"/>
            <a:ext cx="373368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</a:rPr>
              <a:t>Lab 3 : Noon Store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074301" y="6670596"/>
            <a:ext cx="5920740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56381" y="5991219"/>
            <a:ext cx="6352699" cy="1549718"/>
          </a:xfrm>
          <a:prstGeom prst="roundRect">
            <a:avLst>
              <a:gd name="adj" fmla="val 565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35359" y="6219825"/>
            <a:ext cx="2605683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</a:rPr>
              <a:t>Lab 4 : Ticket Reservation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7635359" y="6670596"/>
            <a:ext cx="592074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2D1ECF-EFE1-27CA-650F-020CC77B9EC3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37E4C8-284D-D7A9-448C-4B9B438AFE78}"/>
              </a:ext>
            </a:extLst>
          </p:cNvPr>
          <p:cNvSpPr txBox="1"/>
          <p:nvPr/>
        </p:nvSpPr>
        <p:spPr>
          <a:xfrm>
            <a:off x="1179472" y="4812890"/>
            <a:ext cx="5920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It is a website for managing an organization or company.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FC4011-750E-0184-CB89-8F240F37A9A8}"/>
              </a:ext>
            </a:extLst>
          </p:cNvPr>
          <p:cNvSpPr txBox="1"/>
          <p:nvPr/>
        </p:nvSpPr>
        <p:spPr>
          <a:xfrm>
            <a:off x="7635359" y="4787503"/>
            <a:ext cx="5898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It is a site for uploading or viewing interesting articles.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C37E73-FF69-394E-9A89-BB3D368F643D}"/>
              </a:ext>
            </a:extLst>
          </p:cNvPr>
          <p:cNvSpPr txBox="1"/>
          <p:nvPr/>
        </p:nvSpPr>
        <p:spPr>
          <a:xfrm>
            <a:off x="1282390" y="6670596"/>
            <a:ext cx="6032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It is an online product shopping site.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AECDD2-0881-775B-14BC-0B78EFE10ACC}"/>
              </a:ext>
            </a:extLst>
          </p:cNvPr>
          <p:cNvSpPr txBox="1"/>
          <p:nvPr/>
        </p:nvSpPr>
        <p:spPr>
          <a:xfrm>
            <a:off x="7635359" y="6545580"/>
            <a:ext cx="6314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It is a website for booking travel tickets and hotel accommodation.</a:t>
            </a: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65A48A-C1F5-5C9A-4180-1B3A58B0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02"/>
            <a:ext cx="14630400" cy="32389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56773F-81E0-206A-E355-27FA974E14FA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0BEC3-B30D-1158-CFD9-26D43FAA694D}"/>
              </a:ext>
            </a:extLst>
          </p:cNvPr>
          <p:cNvSpPr txBox="1"/>
          <p:nvPr/>
        </p:nvSpPr>
        <p:spPr>
          <a:xfrm>
            <a:off x="5714999" y="181315"/>
            <a:ext cx="32004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76B9FF"/>
                </a:solidFill>
              </a:rPr>
              <a:t>Zero Team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AF44D-2236-5F0A-EC99-6D46ED920771}"/>
              </a:ext>
            </a:extLst>
          </p:cNvPr>
          <p:cNvSpPr txBox="1"/>
          <p:nvPr/>
        </p:nvSpPr>
        <p:spPr>
          <a:xfrm>
            <a:off x="570305" y="5714571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File upload – IDOR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Way of Exploitation 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1919E3-0A60-5E79-08D3-EF108576D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565" y="1130034"/>
            <a:ext cx="8713694" cy="43286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C2DC9B-C382-FCEB-4B0B-41C5A042BD67}"/>
              </a:ext>
            </a:extLst>
          </p:cNvPr>
          <p:cNvSpPr txBox="1"/>
          <p:nvPr/>
        </p:nvSpPr>
        <p:spPr>
          <a:xfrm>
            <a:off x="8193024" y="5714571"/>
            <a:ext cx="5254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Outcome &amp; Impact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Isolation Method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76105-560C-89C9-89A5-AE0820A1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30E985-B4DA-B55F-CD43-51694E2CA090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A1D20-5182-9A82-1790-32E4549B5188}"/>
              </a:ext>
            </a:extLst>
          </p:cNvPr>
          <p:cNvSpPr txBox="1"/>
          <p:nvPr/>
        </p:nvSpPr>
        <p:spPr>
          <a:xfrm>
            <a:off x="5714999" y="181315"/>
            <a:ext cx="3502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76B9FF"/>
                </a:solidFill>
              </a:rPr>
              <a:t>Hackers News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FD7548-6B4A-E531-92C5-9C6DA5C50151}"/>
              </a:ext>
            </a:extLst>
          </p:cNvPr>
          <p:cNvSpPr txBox="1"/>
          <p:nvPr/>
        </p:nvSpPr>
        <p:spPr>
          <a:xfrm>
            <a:off x="570305" y="5714571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XSS – Command Injection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Way of Exploitation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25314E-00A8-ED15-9589-C78858B2C6E0}"/>
              </a:ext>
            </a:extLst>
          </p:cNvPr>
          <p:cNvSpPr txBox="1"/>
          <p:nvPr/>
        </p:nvSpPr>
        <p:spPr>
          <a:xfrm>
            <a:off x="8193024" y="5714571"/>
            <a:ext cx="5254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Outcome &amp; Impact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Isolation Method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D85806-0136-3335-3764-B518F77AC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859" y="1130034"/>
            <a:ext cx="8606117" cy="43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2329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ABB2-33F0-96FE-1A0E-8A1D6805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7455E0-4363-A039-525B-9E9D096BAD61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BD789-A9FB-D311-390C-62300286FB5F}"/>
              </a:ext>
            </a:extLst>
          </p:cNvPr>
          <p:cNvSpPr txBox="1"/>
          <p:nvPr/>
        </p:nvSpPr>
        <p:spPr>
          <a:xfrm>
            <a:off x="5714999" y="181315"/>
            <a:ext cx="32004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76B9FF"/>
                </a:solidFill>
              </a:rPr>
              <a:t>Noon 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A56834-9580-6100-F4EB-044C133163DD}"/>
              </a:ext>
            </a:extLst>
          </p:cNvPr>
          <p:cNvSpPr txBox="1"/>
          <p:nvPr/>
        </p:nvSpPr>
        <p:spPr>
          <a:xfrm>
            <a:off x="570305" y="5714571"/>
            <a:ext cx="67448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SQL injection - XSS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Way of Exploitation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DDBD0-D10B-8190-AFD5-F0D38A07DF18}"/>
              </a:ext>
            </a:extLst>
          </p:cNvPr>
          <p:cNvSpPr txBox="1"/>
          <p:nvPr/>
        </p:nvSpPr>
        <p:spPr>
          <a:xfrm>
            <a:off x="8193024" y="5714571"/>
            <a:ext cx="5254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Outcome &amp; Impact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Isolation Method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FCF106-741D-76F3-85BE-1C48D2618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329" y="1130034"/>
            <a:ext cx="9197789" cy="441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2411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011F-DF12-4D6D-1B97-0ACFDE75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841A8A-C90C-7442-1813-22BB5C11B080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99EA4-0584-BF56-18EB-50E4E7AFABA2}"/>
              </a:ext>
            </a:extLst>
          </p:cNvPr>
          <p:cNvSpPr txBox="1"/>
          <p:nvPr/>
        </p:nvSpPr>
        <p:spPr>
          <a:xfrm>
            <a:off x="4939820" y="273401"/>
            <a:ext cx="43921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76B9FF"/>
                </a:solidFill>
              </a:rPr>
              <a:t>Ticket Reservation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43097-D18B-177B-C742-5C723A9709E9}"/>
              </a:ext>
            </a:extLst>
          </p:cNvPr>
          <p:cNvSpPr txBox="1"/>
          <p:nvPr/>
        </p:nvSpPr>
        <p:spPr>
          <a:xfrm>
            <a:off x="570305" y="5714571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IDOR – Tool Manipulation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Way of Exploitation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DA44A1-66DE-BBC2-922E-52EE725A2843}"/>
              </a:ext>
            </a:extLst>
          </p:cNvPr>
          <p:cNvSpPr txBox="1"/>
          <p:nvPr/>
        </p:nvSpPr>
        <p:spPr>
          <a:xfrm>
            <a:off x="8193024" y="5714571"/>
            <a:ext cx="5254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Outcome &amp; Impact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Isolation Method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A51249-EA11-DE7A-77D0-6DE3620A0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259" y="1130034"/>
            <a:ext cx="9323293" cy="44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871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96FB-D785-805E-4517-8099E5A9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917670-A961-F4C7-65C2-2DF3BBAE9192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85ED8-0EAC-571D-E818-0919247D3C40}"/>
              </a:ext>
            </a:extLst>
          </p:cNvPr>
          <p:cNvSpPr txBox="1"/>
          <p:nvPr/>
        </p:nvSpPr>
        <p:spPr>
          <a:xfrm>
            <a:off x="5225258" y="204134"/>
            <a:ext cx="3928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76B9FF"/>
                </a:solidFill>
              </a:rPr>
              <a:t>ARP Spoofing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CF73A-6B4D-5AEA-900E-C46294443158}"/>
              </a:ext>
            </a:extLst>
          </p:cNvPr>
          <p:cNvSpPr txBox="1"/>
          <p:nvPr/>
        </p:nvSpPr>
        <p:spPr>
          <a:xfrm>
            <a:off x="570305" y="5714571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Session Hijacking –</a:t>
            </a:r>
            <a:r>
              <a:rPr lang="en-US" sz="2400" dirty="0">
                <a:solidFill>
                  <a:schemeClr val="bg1"/>
                </a:solidFill>
              </a:rPr>
              <a:t> MITM(MAN IN THE MIDDLE)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Way of Exploitation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BA44E3-F30A-AAF3-414E-897CE8C9C9F7}"/>
              </a:ext>
            </a:extLst>
          </p:cNvPr>
          <p:cNvSpPr txBox="1"/>
          <p:nvPr/>
        </p:nvSpPr>
        <p:spPr>
          <a:xfrm>
            <a:off x="8193024" y="5714571"/>
            <a:ext cx="5254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Outcome &amp; Impact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Isolation Method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036FCB-AA23-6404-BCE2-2656021A4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624" y="1130034"/>
            <a:ext cx="9108141" cy="41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1813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709F-ABDF-A8FC-C2A4-B1B55A35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7AF126-11A6-3AFD-1AA4-01694C74F79D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F4191-35B2-6F9E-3B4B-635BBD592BA2}"/>
              </a:ext>
            </a:extLst>
          </p:cNvPr>
          <p:cNvSpPr txBox="1"/>
          <p:nvPr/>
        </p:nvSpPr>
        <p:spPr>
          <a:xfrm>
            <a:off x="5225258" y="204134"/>
            <a:ext cx="3928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76B9FF"/>
                </a:solidFill>
              </a:rPr>
              <a:t>ARP Spoofing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6B0E5-F927-86DA-9096-CD4300A3EBE1}"/>
              </a:ext>
            </a:extLst>
          </p:cNvPr>
          <p:cNvSpPr txBox="1"/>
          <p:nvPr/>
        </p:nvSpPr>
        <p:spPr>
          <a:xfrm>
            <a:off x="570305" y="5714571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Session Hijacking –</a:t>
            </a:r>
            <a:r>
              <a:rPr lang="en-US" sz="2400" dirty="0">
                <a:solidFill>
                  <a:schemeClr val="bg1"/>
                </a:solidFill>
              </a:rPr>
              <a:t> MITM(MAN IN THE MIDDLE)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Way of Exploitation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19A162-33D1-2D01-144B-B9FEF163E2F8}"/>
              </a:ext>
            </a:extLst>
          </p:cNvPr>
          <p:cNvSpPr txBox="1"/>
          <p:nvPr/>
        </p:nvSpPr>
        <p:spPr>
          <a:xfrm>
            <a:off x="8193024" y="5714571"/>
            <a:ext cx="5254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Outcome &amp; Impact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Isolation Method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C3DD2F-D86A-18EB-502C-6126EC955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624" y="1130034"/>
            <a:ext cx="9108141" cy="41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1881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575DAC6-4DBF-3AB8-E360-3E7D8008933A}"/>
              </a:ext>
            </a:extLst>
          </p:cNvPr>
          <p:cNvSpPr/>
          <p:nvPr/>
        </p:nvSpPr>
        <p:spPr>
          <a:xfrm>
            <a:off x="12894067" y="7756989"/>
            <a:ext cx="1623317" cy="380144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F4FA36-7475-2A85-3DCE-5AA32E37C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93511"/>
            <a:ext cx="7315200" cy="39360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B85A8C-E4C9-B2ED-4B9B-00690437C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1" y="4293511"/>
            <a:ext cx="7315199" cy="3936089"/>
          </a:xfrm>
          <a:prstGeom prst="rect">
            <a:avLst/>
          </a:prstGeom>
        </p:spPr>
      </p:pic>
      <p:sp>
        <p:nvSpPr>
          <p:cNvPr id="17" name="Shape 8">
            <a:extLst>
              <a:ext uri="{FF2B5EF4-FFF2-40B4-BE49-F238E27FC236}">
                <a16:creationId xmlns:a16="http://schemas.microsoft.com/office/drawing/2014/main" id="{229BBC60-7DDA-CAAF-5C97-AC7C62BC97AD}"/>
              </a:ext>
            </a:extLst>
          </p:cNvPr>
          <p:cNvSpPr/>
          <p:nvPr/>
        </p:nvSpPr>
        <p:spPr>
          <a:xfrm>
            <a:off x="302491" y="294119"/>
            <a:ext cx="6455147" cy="3742622"/>
          </a:xfrm>
          <a:prstGeom prst="roundRect">
            <a:avLst>
              <a:gd name="adj" fmla="val 160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6F1EEC88-E0C1-0D20-1764-3EF9694210F8}"/>
              </a:ext>
            </a:extLst>
          </p:cNvPr>
          <p:cNvSpPr/>
          <p:nvPr/>
        </p:nvSpPr>
        <p:spPr>
          <a:xfrm>
            <a:off x="7745226" y="294119"/>
            <a:ext cx="6455147" cy="3742622"/>
          </a:xfrm>
          <a:prstGeom prst="roundRect">
            <a:avLst>
              <a:gd name="adj" fmla="val 160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1C624B-747A-D1C8-E8E1-39E7B57B40C7}"/>
              </a:ext>
            </a:extLst>
          </p:cNvPr>
          <p:cNvSpPr txBox="1"/>
          <p:nvPr/>
        </p:nvSpPr>
        <p:spPr>
          <a:xfrm>
            <a:off x="615752" y="461147"/>
            <a:ext cx="235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Resources: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71A950-2221-E77C-2C57-B2C39A6A899D}"/>
              </a:ext>
            </a:extLst>
          </p:cNvPr>
          <p:cNvSpPr txBox="1"/>
          <p:nvPr/>
        </p:nvSpPr>
        <p:spPr>
          <a:xfrm>
            <a:off x="615752" y="1089840"/>
            <a:ext cx="5930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These tabs are used as a reference for the user to facilitate the search and use of all the tools available in the academy and also to increase the information and credibility of our platform.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CD1557-EC35-6167-22C7-7D12DD794920}"/>
              </a:ext>
            </a:extLst>
          </p:cNvPr>
          <p:cNvSpPr txBox="1"/>
          <p:nvPr/>
        </p:nvSpPr>
        <p:spPr>
          <a:xfrm>
            <a:off x="8025160" y="417500"/>
            <a:ext cx="235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76278E-C460-5B5C-CFD3-F97A4B6582B4}"/>
              </a:ext>
            </a:extLst>
          </p:cNvPr>
          <p:cNvSpPr txBox="1"/>
          <p:nvPr/>
        </p:nvSpPr>
        <p:spPr>
          <a:xfrm>
            <a:off x="8025160" y="1005545"/>
            <a:ext cx="5731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contains common problems and vulnerabilities that can pose a challenge or danger to all websites, commercial institutions, companies in all sectors, and also digital countries.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59036" y="674965"/>
            <a:ext cx="6388894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Who is SilentScraper For?</a:t>
            </a:r>
            <a:endParaRPr lang="en-US" sz="4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77" y="1654533"/>
            <a:ext cx="1320737" cy="13207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3991" y="3158313"/>
            <a:ext cx="2821108" cy="999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Cybersecurity 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chemeClr val="accent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Students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934666" y="4606798"/>
            <a:ext cx="2523220" cy="307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 ethical hacking and penetration testing skills.</a:t>
            </a:r>
            <a:endParaRPr lang="en-US" sz="2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346" y="1753630"/>
            <a:ext cx="1122545" cy="11225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07491" y="3203503"/>
            <a:ext cx="2931360" cy="1234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Professionals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3766675" y="4606798"/>
            <a:ext cx="3172466" cy="307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Enhance skills with advanced exploitation techniques.</a:t>
            </a:r>
            <a:endParaRPr lang="en-US" sz="3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039" y="1800503"/>
            <a:ext cx="1122545" cy="11225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48948" y="3494993"/>
            <a:ext cx="2562225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dirty="0">
                <a:solidFill>
                  <a:schemeClr val="accent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Developers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7247930" y="4606798"/>
            <a:ext cx="3281397" cy="280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 secure code writing. Prevent common vulnerabilities.</a:t>
            </a:r>
            <a:endParaRPr lang="en-US" sz="3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3670" y="1430495"/>
            <a:ext cx="1492553" cy="149255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641823" y="3368631"/>
            <a:ext cx="3476246" cy="45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Bug Bounty Hunters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10752901" y="4606798"/>
            <a:ext cx="4011168" cy="133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 and report vulnerabilities. Find bugs in real applications.</a:t>
            </a:r>
            <a:endParaRPr lang="en-US" sz="3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7F7644-D33C-D128-9F51-9531F884DF30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4320"/>
            <a:ext cx="877847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SilentScraper Business Model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1478161" y="408563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Subscription-Based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619149"/>
            <a:ext cx="3699748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Access all labs and features. Pay monthly or annually.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49860" y="4516279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943267" y="276534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Plans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943267" y="3298865"/>
            <a:ext cx="3823335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Customized training programs. For corporate security teams.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20752" y="3147417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7"/>
          <p:cNvSpPr/>
          <p:nvPr/>
        </p:nvSpPr>
        <p:spPr>
          <a:xfrm>
            <a:off x="9943267" y="501098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Partnerships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943267" y="5544503"/>
            <a:ext cx="3823335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Collaborate with training providers. Work with educational institutions.</a:t>
            </a:r>
            <a:endParaRPr lang="en-US" sz="1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20752" y="5885140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9F9F62-4C02-712C-3711-B7B50B0780C2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6E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733425"/>
            <a:ext cx="5245060" cy="65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Plans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863798" y="1703665"/>
            <a:ext cx="209788" cy="1258729"/>
          </a:xfrm>
          <a:prstGeom prst="roundRect">
            <a:avLst>
              <a:gd name="adj" fmla="val 420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83375" y="1913453"/>
            <a:ext cx="2622471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Expand Lab Library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283375" y="2367082"/>
            <a:ext cx="699682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 new labs. Cover emerging vulnerabilities and attack techniques.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178481" y="3119676"/>
            <a:ext cx="209788" cy="1258729"/>
          </a:xfrm>
          <a:prstGeom prst="roundRect">
            <a:avLst>
              <a:gd name="adj" fmla="val 420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598057" y="3329464"/>
            <a:ext cx="2931914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Introduce Gamification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598057" y="3783092"/>
            <a:ext cx="6682145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Incorporate leaderboards and badges. Reward users for progress.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493163" y="4535686"/>
            <a:ext cx="209788" cy="1258729"/>
          </a:xfrm>
          <a:prstGeom prst="roundRect">
            <a:avLst>
              <a:gd name="adj" fmla="val 420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12739" y="4745474"/>
            <a:ext cx="3836908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 Certification Program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912739" y="5199102"/>
            <a:ext cx="6367462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Offer industry-recognized certifications. Validate user skills.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807845" y="5951696"/>
            <a:ext cx="209788" cy="1544479"/>
          </a:xfrm>
          <a:prstGeom prst="roundRect">
            <a:avLst>
              <a:gd name="adj" fmla="val 420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27421" y="6161484"/>
            <a:ext cx="3440787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 AI-Powered Tools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2227421" y="6615113"/>
            <a:ext cx="6052780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Automate vulnerability discovery. Enhance analysis capabilities.</a:t>
            </a:r>
            <a:endParaRPr lang="en-US" sz="1650" dirty="0"/>
          </a:p>
        </p:txBody>
      </p:sp>
      <p:pic>
        <p:nvPicPr>
          <p:cNvPr id="18" name="Picture 17" descr="A drawing of a person climbing up stairs&#10;&#10;AI-generated content may be incorrect.">
            <a:extLst>
              <a:ext uri="{FF2B5EF4-FFF2-40B4-BE49-F238E27FC236}">
                <a16:creationId xmlns:a16="http://schemas.microsoft.com/office/drawing/2014/main" id="{DA201757-A111-19D0-1CA9-DBA601050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7008" y="2540936"/>
            <a:ext cx="1011638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Join the SilentScraper Community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3438144" y="3895844"/>
            <a:ext cx="841248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Start your cybersecurity journey today! Visit our website. Sign up for a free trial. Follow us on social media. Get the latest updates and news. Master ethical hacking skills.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3929" y="3895844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01D97C-BCEB-A7F1-CE17-5369F91E0CB0}"/>
              </a:ext>
            </a:extLst>
          </p:cNvPr>
          <p:cNvSpPr/>
          <p:nvPr/>
        </p:nvSpPr>
        <p:spPr>
          <a:xfrm>
            <a:off x="12846205" y="7660888"/>
            <a:ext cx="1692755" cy="568712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964</Words>
  <Application>Microsoft Office PowerPoint</Application>
  <PresentationFormat>Custom</PresentationFormat>
  <Paragraphs>234</Paragraphs>
  <Slides>21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Roboto Slab</vt:lpstr>
      <vt:lpstr>Wingdings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IT K.M</cp:lastModifiedBy>
  <cp:revision>2</cp:revision>
  <dcterms:created xsi:type="dcterms:W3CDTF">2025-06-11T13:18:32Z</dcterms:created>
  <dcterms:modified xsi:type="dcterms:W3CDTF">2025-06-14T15:46:54Z</dcterms:modified>
</cp:coreProperties>
</file>